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75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2007_Workbook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2007_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Grade (g/t)</c:v>
                </c:pt>
              </c:strCache>
            </c:strRef>
          </c:tx>
          <c:spPr>
            <a:solidFill>
              <a:srgbClr val="B8860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E4E-4BFC-842B-AEAF6EE5D287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0E4E-4BFC-842B-AEAF6EE5D287}"/>
              </c:ext>
            </c:extLst>
          </c:dPt>
          <c:dPt>
            <c:idx val="2"/>
            <c:invertIfNegative val="0"/>
            <c:bubble3D val="0"/>
            <c:spPr>
              <a:solidFill>
                <a:srgbClr val="A0A0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E4E-4BFC-842B-AEAF6EE5D287}"/>
              </c:ext>
            </c:extLst>
          </c:dPt>
          <c:dPt>
            <c:idx val="3"/>
            <c:invertIfNegative val="0"/>
            <c:bubble3D val="0"/>
            <c:spPr>
              <a:solidFill>
                <a:srgbClr val="A0A0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E4E-4BFC-842B-AEAF6EE5D287}"/>
              </c:ext>
            </c:extLst>
          </c:dPt>
          <c:dPt>
            <c:idx val="4"/>
            <c:invertIfNegative val="0"/>
            <c:bubble3D val="0"/>
            <c:spPr>
              <a:solidFill>
                <a:srgbClr val="A0A0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0E4E-4BFC-842B-AEAF6EE5D287}"/>
              </c:ext>
            </c:extLst>
          </c:dPt>
          <c:dPt>
            <c:idx val="5"/>
            <c:invertIfNegative val="0"/>
            <c:bubble3D val="0"/>
            <c:spPr>
              <a:solidFill>
                <a:srgbClr val="A0A0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0E4E-4BFC-842B-AEAF6EE5D287}"/>
              </c:ext>
            </c:extLst>
          </c:dPt>
          <c:dPt>
            <c:idx val="6"/>
            <c:invertIfNegative val="0"/>
            <c:bubble3D val="0"/>
            <c:spPr>
              <a:solidFill>
                <a:srgbClr val="A0A0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0E4E-4BFC-842B-AEAF6EE5D287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IN</c:v>
                </c:pt>
                <c:pt idx="1">
                  <c:v>QV1</c:v>
                </c:pt>
                <c:pt idx="2">
                  <c:v>MU</c:v>
                </c:pt>
                <c:pt idx="3">
                  <c:v>B</c:v>
                </c:pt>
                <c:pt idx="4">
                  <c:v>S2</c:v>
                </c:pt>
                <c:pt idx="5">
                  <c:v>ST</c:v>
                </c:pt>
                <c:pt idx="6">
                  <c:v>SH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9.15</c:v>
                </c:pt>
                <c:pt idx="1">
                  <c:v>4.1399999999999997</c:v>
                </c:pt>
                <c:pt idx="2">
                  <c:v>1.95</c:v>
                </c:pt>
                <c:pt idx="3">
                  <c:v>0.7</c:v>
                </c:pt>
                <c:pt idx="4">
                  <c:v>0.42</c:v>
                </c:pt>
                <c:pt idx="5">
                  <c:v>0.1</c:v>
                </c:pt>
                <c:pt idx="6">
                  <c:v>0.08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0E4E-4BFC-842B-AEAF6EE5D28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GB" b="0" i="0" u="none" strike="noStrike">
                    <a:solidFill>
                      <a:srgbClr val="000000"/>
                    </a:solidFill>
                    <a:latin typeface="Arial"/>
                  </a:rPr>
                  <a:t>Mean Grade (g/t)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Spherical Model</c:v>
                </c:pt>
              </c:strCache>
            </c:strRef>
          </c:tx>
          <c:spPr>
            <a:ln w="25400" cap="flat">
              <a:solidFill>
                <a:srgbClr val="B8860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B8860B"/>
              </a:solidFill>
              <a:ln w="9525" cap="flat">
                <a:solidFill>
                  <a:srgbClr val="B8860B"/>
                </a:solidFill>
                <a:prstDash val="solid"/>
                <a:round/>
              </a:ln>
              <a:effectLst/>
            </c:spPr>
          </c:marker>
          <c:xVal>
            <c:numRef>
              <c:f>Sheet1!$A$2:$A$13</c:f>
              <c:numCache>
                <c:formatCode>General</c:formatCode>
                <c:ptCount val="12"/>
                <c:pt idx="0">
                  <c:v>24.321999999999999</c:v>
                </c:pt>
                <c:pt idx="1">
                  <c:v>21.777000000000001</c:v>
                </c:pt>
                <c:pt idx="2">
                  <c:v>22.805</c:v>
                </c:pt>
                <c:pt idx="3">
                  <c:v>24.991</c:v>
                </c:pt>
                <c:pt idx="4">
                  <c:v>28.911999999999999</c:v>
                </c:pt>
                <c:pt idx="5">
                  <c:v>33.222999999999999</c:v>
                </c:pt>
                <c:pt idx="6">
                  <c:v>29.524000000000001</c:v>
                </c:pt>
                <c:pt idx="7">
                  <c:v>30.905999999999999</c:v>
                </c:pt>
                <c:pt idx="8">
                  <c:v>34.969000000000001</c:v>
                </c:pt>
                <c:pt idx="9">
                  <c:v>33.829000000000001</c:v>
                </c:pt>
                <c:pt idx="10">
                  <c:v>34.203000000000003</c:v>
                </c:pt>
                <c:pt idx="11">
                  <c:v>25.428000000000001</c:v>
                </c:pt>
              </c:numCache>
            </c:numRef>
          </c:xVal>
          <c:yVal>
            <c:numRef>
              <c:f>Sheet1!$B$2:$B$13</c:f>
              <c:numCache>
                <c:formatCode>General</c:formatCode>
                <c:ptCount val="12"/>
                <c:pt idx="0">
                  <c:v>18.809999999999999</c:v>
                </c:pt>
                <c:pt idx="1">
                  <c:v>20.67</c:v>
                </c:pt>
                <c:pt idx="2">
                  <c:v>22.51</c:v>
                </c:pt>
                <c:pt idx="3">
                  <c:v>24.27</c:v>
                </c:pt>
                <c:pt idx="4">
                  <c:v>25.95</c:v>
                </c:pt>
                <c:pt idx="5">
                  <c:v>27.5</c:v>
                </c:pt>
                <c:pt idx="6">
                  <c:v>28.89</c:v>
                </c:pt>
                <c:pt idx="7">
                  <c:v>30.09</c:v>
                </c:pt>
                <c:pt idx="8">
                  <c:v>31.08</c:v>
                </c:pt>
                <c:pt idx="9">
                  <c:v>31.81</c:v>
                </c:pt>
                <c:pt idx="10">
                  <c:v>32.25</c:v>
                </c:pt>
                <c:pt idx="11">
                  <c:v>32.39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AC0B-4A25-9B6A-5071DD624C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crossBetween val="midCat"/>
      </c:val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9299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project scope: 94 holes, 4813 samples, full geostatistical pipeline from QC to block model prep.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finding: placeholder grades systematically inflated B and ST rock types. After correction, ST is effectively barren (0.58%).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and QV1 are the only economic rock types. ST which makes up 70% of samples is effectively barren after placeholder correction.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PCA on 291 high-grade samples reveals a clear NE-SW structural trend. The ore shoot plunges gently SW at 12 degrees.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Range of 218m is the key number for block model search radius. High nugget ratio (58%) confirms short-scale grade variability typical of gold deposits.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outputs exported as CSV files ready for direct import. Kriging and formal resource classification require a Qualified Person under JORC or NI 43-101.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with the business impact: NE-SW drilling corridor, 218m search radius, MU reclassification recommendation.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82296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 Deposit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Drillhole Data Analysis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Geostatistical Study — 94 Drillholes | 4,813 Samples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291840"/>
            <a:ext cx="2468880" cy="1188720"/>
          </a:xfrm>
          <a:prstGeom prst="roundRect">
            <a:avLst>
              <a:gd name="adj" fmla="val 7692"/>
            </a:avLst>
          </a:prstGeom>
          <a:solidFill>
            <a:srgbClr val="2A2A4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333756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38862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Drillholes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3291840"/>
            <a:ext cx="2468880" cy="1188720"/>
          </a:xfrm>
          <a:prstGeom prst="roundRect">
            <a:avLst>
              <a:gd name="adj" fmla="val 7692"/>
            </a:avLst>
          </a:prstGeom>
          <a:solidFill>
            <a:srgbClr val="2A2A4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83280" y="333756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4,813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383280" y="38862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Samples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3291840"/>
            <a:ext cx="2468880" cy="1188720"/>
          </a:xfrm>
          <a:prstGeom prst="roundRect">
            <a:avLst>
              <a:gd name="adj" fmla="val 7692"/>
            </a:avLst>
          </a:prstGeom>
          <a:solidFill>
            <a:srgbClr val="2A2A4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0" y="333756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217920" y="38862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Mineralized Composites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Mohamed  |  Gold Mining Exploration Analysis  |  2026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 Pipeline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3657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AFA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30352" y="1216152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21615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24128" y="11430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QC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46304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94 holes across 4 tables. Identified 35.7% placeholder grades.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AFA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30352" y="2450592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245059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24128" y="23774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Desurveying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24128" y="269748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Curvature Method — true X,Y,Z for every sample.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52044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AFA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30352" y="3685032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36850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24128" y="36118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&amp; Domains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24128" y="393192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by rock type. IN &amp; QV1 confirmed as mineralized hosts.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105156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AFA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19472" y="1216152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19472" y="121615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13248" y="11430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Directional Analysis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13248" y="146304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revealed NE-SW trend at 42.7° with 86.5% confidence.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228600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AFA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919472" y="2450592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9472" y="245059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13248" y="23774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Cut &amp; Compositing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13248" y="269748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g/t cap applied. 2m domain-aware composites built.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352044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AFA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919472" y="3685032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19472" y="36850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13248" y="36118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Variography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13248" y="393192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Spherical model: Nugget=18.81, Sill=32.39, Range=218m.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 — Data Quality Control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502920"/>
          </a:xfrm>
          <a:prstGeom prst="roundRect">
            <a:avLst>
              <a:gd name="adj" fmla="val 12727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0584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1560" y="100584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 holes validated across all 4 tables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627632"/>
            <a:ext cx="8229600" cy="502920"/>
          </a:xfrm>
          <a:prstGeom prst="roundRect">
            <a:avLst>
              <a:gd name="adj" fmla="val 12727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27632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51560" y="1627632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overlapping sample intervals detected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249424"/>
            <a:ext cx="8229600" cy="502920"/>
          </a:xfrm>
          <a:prstGeom prst="roundRect">
            <a:avLst>
              <a:gd name="adj" fmla="val 12727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249424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51560" y="2249424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negative gold values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871216"/>
            <a:ext cx="8229600" cy="502920"/>
          </a:xfrm>
          <a:prstGeom prst="roundRect">
            <a:avLst>
              <a:gd name="adj" fmla="val 12727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871216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51560" y="2871216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35.7% of samples had placeholder grade = 1.00 g/t exactly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493008"/>
            <a:ext cx="8229600" cy="502920"/>
          </a:xfrm>
          <a:prstGeom prst="roundRect">
            <a:avLst>
              <a:gd name="adj" fmla="val 12727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493008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51560" y="3493008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rock: 98.8% placeholder → dropped from 99% to 33% economic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114800"/>
            <a:ext cx="8229600" cy="502920"/>
          </a:xfrm>
          <a:prstGeom prst="roundRect">
            <a:avLst>
              <a:gd name="adj" fmla="val 12727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411480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51560" y="411480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 rock: 42.4% placeholder → corrected to 0.58% economic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3 — Grade by Rock Type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58952"/>
            <a:ext cx="8229600" cy="3657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graphicFrame>
        <p:nvGraphicFramePr>
          <p:cNvPr id="4" name="Chart 0"/>
          <p:cNvGraphicFramePr/>
          <p:nvPr/>
        </p:nvGraphicFramePr>
        <p:xfrm>
          <a:off x="457200" y="914400"/>
          <a:ext cx="530352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035040" y="100584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AFA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126480" y="10972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(Intrusive)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126480" y="13258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9.15 g/t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126480" y="171907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avg grade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economic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035040" y="237744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AFA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126480" y="24688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QV1 (Quartz Vein)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126480" y="26974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4.14 g/t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126480" y="309067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Widest distribution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holes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035040" y="374904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AFA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126480" y="38404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 (Background)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126480" y="40690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0.10 g/t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6126480" y="446227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Barren after QC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0.58% economic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4 — Directional Analysis &amp; Ore Shoot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58952"/>
            <a:ext cx="8229600" cy="3657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2560320" cy="2011680"/>
          </a:xfrm>
          <a:prstGeom prst="roundRect">
            <a:avLst>
              <a:gd name="adj" fmla="val 4545"/>
            </a:avLst>
          </a:prstGeom>
          <a:solidFill>
            <a:srgbClr val="1A1A2E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8872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42.7°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NE-SW Trend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Azimuth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D9E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86.5%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246120" y="1005840"/>
            <a:ext cx="2651760" cy="1143000"/>
          </a:xfrm>
          <a:prstGeom prst="roundRect">
            <a:avLst>
              <a:gd name="adj" fmla="val 6400"/>
            </a:avLst>
          </a:prstGeom>
          <a:solidFill>
            <a:srgbClr val="FAFA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83280" y="10972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83280" y="13716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applied to 291 high-grade samples (gold ≥ 3 g/t)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46120" y="2331720"/>
            <a:ext cx="2651760" cy="1143000"/>
          </a:xfrm>
          <a:prstGeom prst="roundRect">
            <a:avLst>
              <a:gd name="adj" fmla="val 6400"/>
            </a:avLst>
          </a:prstGeom>
          <a:solidFill>
            <a:srgbClr val="FAFA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383280" y="24231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Azimuth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83280" y="26974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42.7° — consistent in both 2D (plan) and 3D analysis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46120" y="3657600"/>
            <a:ext cx="2651760" cy="1143000"/>
          </a:xfrm>
          <a:prstGeom prst="roundRect">
            <a:avLst>
              <a:gd name="adj" fmla="val 6400"/>
            </a:avLst>
          </a:prstGeom>
          <a:solidFill>
            <a:srgbClr val="FAFA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383280" y="37490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Confidence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83280" y="40233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86.5% of spatial variance explained — strong structural control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26480" y="1005840"/>
            <a:ext cx="2651760" cy="1143000"/>
          </a:xfrm>
          <a:prstGeom prst="roundRect">
            <a:avLst>
              <a:gd name="adj" fmla="val 6400"/>
            </a:avLst>
          </a:prstGeom>
          <a:solidFill>
            <a:srgbClr val="FAFA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263640" y="10972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Plunge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63640" y="13716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~12° toward SW — shallow, favorable for near-surface mining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26480" y="2331720"/>
            <a:ext cx="2651760" cy="1143000"/>
          </a:xfrm>
          <a:prstGeom prst="roundRect">
            <a:avLst>
              <a:gd name="adj" fmla="val 6400"/>
            </a:avLst>
          </a:prstGeom>
          <a:solidFill>
            <a:srgbClr val="FAFA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263640" y="24231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Implication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63640" y="26974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 fault or fracture system controlling NE-SW mineralization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26480" y="3657600"/>
            <a:ext cx="2651760" cy="1143000"/>
          </a:xfrm>
          <a:prstGeom prst="roundRect">
            <a:avLst>
              <a:gd name="adj" fmla="val 6400"/>
            </a:avLst>
          </a:prstGeom>
          <a:solidFill>
            <a:srgbClr val="FAFA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263640" y="37490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63640" y="40233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drilling should target NE-SW corridor extensions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6 — Variogram Analysis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58952"/>
            <a:ext cx="8229600" cy="3657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graphicFrame>
        <p:nvGraphicFramePr>
          <p:cNvPr id="4" name="Chart 0"/>
          <p:cNvGraphicFramePr/>
          <p:nvPr/>
        </p:nvGraphicFramePr>
        <p:xfrm>
          <a:off x="457200" y="914400"/>
          <a:ext cx="530352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035040" y="100584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FAFA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126480" y="105156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Nugget (C₀)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126480" y="12801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18.81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126480" y="160020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58% of Sill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035040" y="201168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FAFA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126480" y="205740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Sill (C₀+C₁)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126480" y="228600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32.39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6126480" y="26060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variance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035040" y="301752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FAFA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126480" y="306324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(a)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126480" y="329184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218 m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6126480" y="36118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limit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035040" y="4023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FAFA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126480" y="406908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126480" y="42976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Spherical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6126480" y="46177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Isotropic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 Model Inputs — Ready for Surpac / Leapfrog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58952"/>
            <a:ext cx="8229600" cy="3657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393192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Mineralized Domain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QV1 + IN rocks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Geology + Grade Statistics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Cut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g/t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Percentile analysis (P99 = 60 g/t)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Composite Length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 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Domain-aware compositing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Composites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2,789 (372 Mineralized)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 holes processed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Variogram 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Spherical (Isotropic)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Experimental variogram fit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Nugget / Sill / Range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18.81 / 32.39 / 218 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Scipy curve_fit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Drill Spacing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37.3 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Nearest-neighbour distance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Suggested Block Size XY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18.7 m (half spacing)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Industry rule of thumb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Suggested Block Size Z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 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Matches composite length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 &amp; Recommendations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365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05840" y="1051560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Mineralization is hosted exclusively in QV1 and IN rocks (mean grades 4.1 and 9.2 g/t)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801368"/>
            <a:ext cx="365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801368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NE-SW structural trend (42.7°) with 86.5% confidence — focus future drilling here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551176"/>
            <a:ext cx="365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2551176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Ore shoot plunges gently SW at 12° — favorable for near-surface resource extension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300984"/>
            <a:ext cx="365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3300984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correlation persists to 218 m — current 37.3 m drill spacing is more than adequate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4050792"/>
            <a:ext cx="365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4050792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 rock (1.95 g/t mean) warrants reclassification into the Mineralized Domain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46177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geostatistical parameters exported and ready for import into Surpac, Datamine, or Leapfrog Geo.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resource classification (Inferred/Indicated) requires a Qualified Person under JORC / NI 43-101.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1A1A2E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26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ملخص النتائج بالعربية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FAFA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10515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0515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التمعدن مرتبط حصرياً بصخور QV1 (العروق الكوارتزية) والصخر الجوفي IN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0" y="16002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600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الاتجاه الأساسي للتمعدن: شمال شرق - جنوب غرب (42.7°) بثقة 86.5%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14884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FAFA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0" y="21488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148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عمود التمعدن يميل بزاوية خفيفة 12° ناحية الجنوب الغربي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69748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0" y="26974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2697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أقصى مسافة ترابط مكاني: 218 متر — أساس تصميم Block Model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24612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FAFA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0" y="32461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32461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الحد الأقصى للعيار المطبق: 60 g/t — يؤثر على 1% فقط من العينات الممعدنة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79476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46720" y="37947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3794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صخر MU (متوسط عياره 1.95 g/t) مرشح لإعادة تصنيفه ضمن النطاق الممعدن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34340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FAFA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6720" y="43434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" y="4343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تركيز الحفر الاستكشافي الجديد على امتداد محور الشمال الشرقي - الجنوب الغربي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887</Words>
  <Application>Microsoft Office PowerPoint</Application>
  <PresentationFormat>On-screen Show (16:9)</PresentationFormat>
  <Paragraphs>161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Gold Deposit Drillhole Data Analysis</dc:title>
  <dc:subject>PptxGenJS Presentation</dc:subject>
  <dc:creator>Mohamed - Data Analyst</dc:creator>
  <cp:lastModifiedBy>Mohamed Wael</cp:lastModifiedBy>
  <cp:revision>1</cp:revision>
  <dcterms:created xsi:type="dcterms:W3CDTF">2026-06-23T11:25:51Z</dcterms:created>
  <dcterms:modified xsi:type="dcterms:W3CDTF">2026-06-23T11:31:50Z</dcterms:modified>
</cp:coreProperties>
</file>